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0"/>
  </p:sldMasterIdLst>
  <p:sldIdLst>
    <p:sldId id="257" r:id="rId1"/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 type="wide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14300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3400" b="1">
                <a:solidFill>
                  <a:srgbClr val="0F172A"/>
                </a:solidFill>
                <a:latin typeface="Aptos"/>
                <a:ea typeface="Microsoft YaHei"/>
              </a:rPr>
              <a:t>不用重上 ERP，也能把工厂业务跑起来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3232" y="224028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>
                <a:solidFill>
                  <a:srgbClr val="334155"/>
                </a:solidFill>
                <a:latin typeface="Aptos"/>
                <a:ea typeface="Microsoft YaHei"/>
              </a:rPr>
              <a:t>AI 驱动的订单交付闭环系统：连接订单、BOM、库存、采购、生产与发货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329184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1F2937"/>
                </a:solidFill>
                <a:latin typeface="Aptos"/>
                <a:ea typeface="Microsoft YaHei"/>
              </a:rPr>
              <a:t>订单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926080" y="329184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1F2937"/>
                </a:solidFill>
                <a:latin typeface="Aptos"/>
                <a:ea typeface="Microsoft YaHei"/>
              </a:rPr>
              <a:t>BOM/库存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20640" y="329184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1F2937"/>
                </a:solidFill>
                <a:latin typeface="Aptos"/>
                <a:ea typeface="Microsoft YaHei"/>
              </a:rPr>
              <a:t>采购/生产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315200" y="3291840"/>
            <a:ext cx="192024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1F2937"/>
                </a:solidFill>
                <a:latin typeface="Aptos"/>
                <a:ea typeface="Microsoft YaHei"/>
              </a:rPr>
              <a:t>发货/回款</a:t>
            </a:r>
          </a:p>
        </p:txBody>
      </p:sp>
      <p:cxnSp>
        <p:nvCxnSpPr>
          <p:cNvPr id="9" name="Connector 9"/>
          <p:cNvCxnSpPr/>
          <p:nvPr/>
        </p:nvCxnSpPr>
        <p:spPr>
          <a:xfrm>
            <a:off x="2651760" y="3621024"/>
            <a:ext cx="274320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0"/>
          <p:cNvCxnSpPr/>
          <p:nvPr/>
        </p:nvCxnSpPr>
        <p:spPr>
          <a:xfrm>
            <a:off x="4846320" y="3621024"/>
            <a:ext cx="274319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1"/>
          <p:cNvCxnSpPr/>
          <p:nvPr/>
        </p:nvCxnSpPr>
        <p:spPr>
          <a:xfrm>
            <a:off x="7040880" y="3621024"/>
            <a:ext cx="274319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2"/>
          <p:cNvSpPr txBox="1"/>
          <p:nvPr/>
        </p:nvSpPr>
        <p:spPr>
          <a:xfrm>
            <a:off x="731520" y="4754880"/>
            <a:ext cx="8503920" cy="68580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 wrap="square"/>
          <a:lstStyle/>
          <a:p>
            <a:r>
              <a:rPr lang="zh-CN" sz="1800" b="1">
                <a:solidFill>
                  <a:srgbClr val="075985"/>
                </a:solidFill>
                <a:latin typeface="Aptos"/>
                <a:ea typeface="Microsoft YaHei"/>
              </a:rPr>
              <a:t>先从订单交付闭环开始，逐步沉淀企业自己的业务系统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82296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b="1">
                <a:solidFill>
                  <a:srgbClr val="0F172A"/>
                </a:solidFill>
                <a:latin typeface="Aptos"/>
                <a:ea typeface="Microsoft YaHei"/>
              </a:rPr>
              <a:t>工厂不是没有系统，而是业务跑在系统外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645920"/>
            <a:ext cx="44805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1F2937"/>
                </a:solidFill>
                <a:latin typeface="Aptos"/>
                <a:ea typeface="Microsoft YaHei"/>
              </a:rPr>
              <a:t>今天很多工厂的真实运行方式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31520" y="2331720"/>
            <a:ext cx="3108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/>
          <a:lstStyle/>
          <a:p>
            <a:r>
              <a:rPr lang="zh-CN" sz="1800" b="1">
                <a:solidFill>
                  <a:srgbClr val="1F2937"/>
                </a:solidFill>
                <a:latin typeface="Aptos"/>
                <a:ea typeface="Microsoft YaHei"/>
              </a:rPr>
              <a:t>Excel 台账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160520" y="2331720"/>
            <a:ext cx="3108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/>
          <a:lstStyle/>
          <a:p>
            <a:r>
              <a:rPr lang="zh-CN" sz="1800" b="1">
                <a:solidFill>
                  <a:srgbClr val="1F2937"/>
                </a:solidFill>
                <a:latin typeface="Aptos"/>
                <a:ea typeface="Microsoft YaHei"/>
              </a:rPr>
              <a:t>微信群催进度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3246120"/>
            <a:ext cx="3108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/>
          <a:lstStyle/>
          <a:p>
            <a:r>
              <a:rPr lang="zh-CN" sz="1800" b="1">
                <a:solidFill>
                  <a:srgbClr val="1F2937"/>
                </a:solidFill>
                <a:latin typeface="Aptos"/>
                <a:ea typeface="Microsoft YaHei"/>
              </a:rPr>
              <a:t>老师傅经验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0520" y="3246120"/>
            <a:ext cx="31089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/>
          <a:lstStyle/>
          <a:p>
            <a:r>
              <a:rPr lang="zh-CN" sz="1800" b="1">
                <a:solidFill>
                  <a:srgbClr val="1F2937"/>
                </a:solidFill>
                <a:latin typeface="Aptos"/>
                <a:ea typeface="Microsoft YaHei"/>
              </a:rPr>
              <a:t>老板人工盯单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1520" y="4343400"/>
            <a:ext cx="8046720" cy="914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991B1B"/>
                </a:solidFill>
                <a:latin typeface="Aptos"/>
                <a:ea typeface="Microsoft YaHei"/>
              </a:rPr>
              <a:t>结果：缺料发现晚、交期风险晚、责任边界不清、系统只是事后记录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7772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b="1">
                <a:solidFill>
                  <a:srgbClr val="0F172A"/>
                </a:solidFill>
                <a:latin typeface="Aptos"/>
                <a:ea typeface="Microsoft YaHei"/>
              </a:rPr>
              <a:t>为什么普通低代码和传统 ERP 都不够好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691640"/>
            <a:ext cx="420624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0F172A"/>
                </a:solidFill>
                <a:latin typeface="Aptos"/>
                <a:ea typeface="Microsoft YaHei"/>
              </a:rPr>
              <a:t>普通低代码</a:t>
            </a:r>
          </a:p>
          <a:p>
            <a:r>
              <a:rPr lang="zh-CN" sz="1700">
                <a:solidFill>
                  <a:srgbClr val="1F2937"/>
                </a:solidFill>
                <a:latin typeface="Aptos"/>
                <a:ea typeface="Microsoft YaHei"/>
              </a:rPr>
              <a:t>表单、流程、报表很快</a:t>
            </a:r>
          </a:p>
          <a:p>
            <a:r>
              <a:rPr lang="zh-CN" sz="1700">
                <a:solidFill>
                  <a:srgbClr val="1F2937"/>
                </a:solidFill>
                <a:latin typeface="Aptos"/>
                <a:ea typeface="Microsoft YaHei"/>
              </a:rPr>
              <a:t>但复杂业务对象联动弱</a:t>
            </a:r>
          </a:p>
          <a:p>
            <a:r>
              <a:rPr lang="zh-CN" sz="1700">
                <a:solidFill>
                  <a:srgbClr val="1F2937"/>
                </a:solidFill>
                <a:latin typeface="Aptos"/>
                <a:ea typeface="Microsoft YaHei"/>
              </a:rPr>
              <a:t>BOM、库存、采购、生产靠人工维护</a:t>
            </a:r>
          </a:p>
          <a:p>
            <a:r>
              <a:rPr lang="zh-CN" sz="1700">
                <a:solidFill>
                  <a:srgbClr val="1F2937"/>
                </a:solidFill>
                <a:latin typeface="Aptos"/>
                <a:ea typeface="Microsoft YaHei"/>
              </a:rPr>
              <a:t>规则多了以后变成复杂 if/else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6360" y="1691640"/>
            <a:ext cx="420624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0F172A"/>
                </a:solidFill>
                <a:latin typeface="Aptos"/>
                <a:ea typeface="Microsoft YaHei"/>
              </a:rPr>
              <a:t>传统 ERP/MES</a:t>
            </a:r>
          </a:p>
          <a:p>
            <a:r>
              <a:rPr lang="zh-CN" sz="1700">
                <a:solidFill>
                  <a:srgbClr val="1F2937"/>
                </a:solidFill>
                <a:latin typeface="Aptos"/>
                <a:ea typeface="Microsoft YaHei"/>
              </a:rPr>
              <a:t>标准模块稳定</a:t>
            </a:r>
          </a:p>
          <a:p>
            <a:r>
              <a:rPr lang="zh-CN" sz="1700">
                <a:solidFill>
                  <a:srgbClr val="1F2937"/>
                </a:solidFill>
                <a:latin typeface="Aptos"/>
                <a:ea typeface="Microsoft YaHei"/>
              </a:rPr>
              <a:t>但实施重、修改难</a:t>
            </a:r>
          </a:p>
          <a:p>
            <a:r>
              <a:rPr lang="zh-CN" sz="1700">
                <a:solidFill>
                  <a:srgbClr val="1F2937"/>
                </a:solidFill>
                <a:latin typeface="Aptos"/>
                <a:ea typeface="Microsoft YaHei"/>
              </a:rPr>
              <a:t>非标/半定制订单适配成本高</a:t>
            </a:r>
          </a:p>
          <a:p>
            <a:r>
              <a:rPr lang="zh-CN" sz="1700">
                <a:solidFill>
                  <a:srgbClr val="1F2937"/>
                </a:solidFill>
                <a:latin typeface="Aptos"/>
                <a:ea typeface="Microsoft YaHei"/>
              </a:rPr>
              <a:t>小工厂容易用不起来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5840" y="5806440"/>
            <a:ext cx="7955279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/>
          <a:lstStyle/>
          <a:p>
            <a:r>
              <a:rPr lang="zh-CN" sz="1800" b="1">
                <a:solidFill>
                  <a:srgbClr val="065F46"/>
                </a:solidFill>
                <a:latin typeface="Aptos"/>
                <a:ea typeface="Microsoft YaHei"/>
              </a:rPr>
              <a:t>BizGrow 切入中间地带：比低代码更懂复杂业务，比 ERP 更轻、更可配置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731520"/>
            <a:ext cx="8321040" cy="6858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b="1">
                <a:solidFill>
                  <a:srgbClr val="0F172A"/>
                </a:solidFill>
                <a:latin typeface="Aptos"/>
                <a:ea typeface="Microsoft YaHei"/>
              </a:rPr>
              <a:t>第一性原理：业务系统不应该从模块开始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572768"/>
            <a:ext cx="8321040" cy="4114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 b="1">
                <a:solidFill>
                  <a:srgbClr val="334155"/>
                </a:solidFill>
                <a:latin typeface="Aptos"/>
                <a:ea typeface="Microsoft YaHei"/>
              </a:rPr>
              <a:t>企业业务系统 = 业务对象 + 对象关系 + 生命周期 + 规则约束 + 企业知识 + Agent 推进 + 审计追溯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77240" y="2423160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0F172A"/>
                </a:solidFill>
                <a:latin typeface="Aptos"/>
                <a:ea typeface="Microsoft YaHei"/>
              </a:rPr>
              <a:t>业务对象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14600" y="2423160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0F172A"/>
                </a:solidFill>
                <a:latin typeface="Aptos"/>
                <a:ea typeface="Microsoft YaHei"/>
              </a:rPr>
              <a:t>对象关系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51960" y="2423160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0F172A"/>
                </a:solidFill>
                <a:latin typeface="Aptos"/>
                <a:ea typeface="Microsoft YaHei"/>
              </a:rPr>
              <a:t>生命周期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89320" y="2423160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0F172A"/>
                </a:solidFill>
                <a:latin typeface="Aptos"/>
                <a:ea typeface="Microsoft YaHei"/>
              </a:rPr>
              <a:t>规则约束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80360" y="3703320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0F172A"/>
                </a:solidFill>
                <a:latin typeface="Aptos"/>
                <a:ea typeface="Microsoft YaHei"/>
              </a:rPr>
              <a:t>企业知识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17720" y="3703320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0F172A"/>
                </a:solidFill>
                <a:latin typeface="Aptos"/>
                <a:ea typeface="Microsoft YaHei"/>
              </a:rPr>
              <a:t>Agent 推进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55080" y="3703320"/>
            <a:ext cx="1417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0F172A"/>
                </a:solidFill>
                <a:latin typeface="Aptos"/>
                <a:ea typeface="Microsoft YaHei"/>
              </a:rPr>
              <a:t>审计追溯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520440" y="4892040"/>
            <a:ext cx="3108960" cy="685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/>
          <a:lstStyle/>
          <a:p>
            <a:r>
              <a:rPr lang="zh-CN" sz="2200" b="1">
                <a:solidFill>
                  <a:srgbClr val="FFFFFF"/>
                </a:solidFill>
                <a:latin typeface="Aptos"/>
                <a:ea typeface="Microsoft YaHei"/>
              </a:rPr>
              <a:t>业务闭环自动运行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7772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b="1">
                <a:solidFill>
                  <a:srgbClr val="0F172A"/>
                </a:solidFill>
                <a:latin typeface="Aptos"/>
                <a:ea typeface="Microsoft YaHei"/>
              </a:rPr>
              <a:t>BizGrow Studio：对象型 AI 低代码业务平台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600200"/>
            <a:ext cx="25603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0F172A"/>
                </a:solidFill>
                <a:latin typeface="Aptos"/>
                <a:ea typeface="Microsoft YaHei"/>
              </a:rPr>
              <a:t>配置端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业务对象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字段语义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关系图谱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生命周期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规则构件 / DSL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Agent 边界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66160" y="1600200"/>
            <a:ext cx="25603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0F172A"/>
                </a:solidFill>
                <a:latin typeface="Aptos"/>
                <a:ea typeface="Microsoft YaHei"/>
              </a:rPr>
              <a:t>运行端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订单工作台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Agent 录单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缺料与采购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生产任务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发货跟踪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老板看板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492240" y="1600200"/>
            <a:ext cx="25603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0F172A"/>
                </a:solidFill>
                <a:latin typeface="Aptos"/>
                <a:ea typeface="Microsoft YaHei"/>
              </a:rPr>
              <a:t>治理层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权限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人工确认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规则命中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审计轨迹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版本发布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运行分析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5715000"/>
            <a:ext cx="832104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/>
          <a:lstStyle/>
          <a:p>
            <a:r>
              <a:rPr lang="zh-CN" sz="1700" b="1">
                <a:solidFill>
                  <a:srgbClr val="1D4ED8"/>
                </a:solidFill>
                <a:latin typeface="Aptos"/>
                <a:ea typeface="Microsoft YaHei"/>
              </a:rPr>
              <a:t>客户日常只用运行端；配置端第一阶段由我们/实施顾问使用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7772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b="1">
                <a:solidFill>
                  <a:srgbClr val="0F172A"/>
                </a:solidFill>
                <a:latin typeface="Aptos"/>
                <a:ea typeface="Microsoft YaHei"/>
              </a:rPr>
              <a:t>客户买到的不是平台，而是订单交付变清楚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8288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400" b="1">
                <a:solidFill>
                  <a:srgbClr val="0F172A"/>
                </a:solidFill>
                <a:latin typeface="Aptos"/>
                <a:ea typeface="Microsoft YaHei"/>
              </a:rPr>
              <a:t>少延期</a:t>
            </a:r>
          </a:p>
          <a:p>
            <a:r>
              <a:rPr lang="zh-CN" sz="1300">
                <a:solidFill>
                  <a:srgbClr val="475569"/>
                </a:solidFill>
                <a:latin typeface="Aptos"/>
                <a:ea typeface="Microsoft YaHei"/>
              </a:rPr>
              <a:t>交期风险提前预警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834640" y="18288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400" b="1">
                <a:solidFill>
                  <a:srgbClr val="0F172A"/>
                </a:solidFill>
                <a:latin typeface="Aptos"/>
                <a:ea typeface="Microsoft YaHei"/>
              </a:rPr>
              <a:t>少缺料</a:t>
            </a:r>
          </a:p>
          <a:p>
            <a:r>
              <a:rPr lang="zh-CN" sz="1300">
                <a:solidFill>
                  <a:srgbClr val="475569"/>
                </a:solidFill>
                <a:latin typeface="Aptos"/>
                <a:ea typeface="Microsoft YaHei"/>
              </a:rPr>
              <a:t>BOM 与库存自动联动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83480" y="18288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400" b="1">
                <a:solidFill>
                  <a:srgbClr val="0F172A"/>
                </a:solidFill>
                <a:latin typeface="Aptos"/>
                <a:ea typeface="Microsoft YaHei"/>
              </a:rPr>
              <a:t>少扯皮</a:t>
            </a:r>
          </a:p>
          <a:p>
            <a:r>
              <a:rPr lang="zh-CN" sz="1300">
                <a:solidFill>
                  <a:srgbClr val="475569"/>
                </a:solidFill>
                <a:latin typeface="Aptos"/>
                <a:ea typeface="Microsoft YaHei"/>
              </a:rPr>
              <a:t>责任、确认、审批都有痕迹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132320" y="1828800"/>
            <a:ext cx="18288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2400" b="1">
                <a:solidFill>
                  <a:srgbClr val="0F172A"/>
                </a:solidFill>
                <a:latin typeface="Aptos"/>
                <a:ea typeface="Microsoft YaHei"/>
              </a:rPr>
              <a:t>少实施</a:t>
            </a:r>
          </a:p>
          <a:p>
            <a:r>
              <a:rPr lang="zh-CN" sz="1300">
                <a:solidFill>
                  <a:srgbClr val="475569"/>
                </a:solidFill>
                <a:latin typeface="Aptos"/>
                <a:ea typeface="Microsoft YaHei"/>
              </a:rPr>
              <a:t>先跑订单交付，不用重上 ERP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22960" y="4069080"/>
            <a:ext cx="8046720" cy="6858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991B1B"/>
                </a:solidFill>
                <a:latin typeface="Aptos"/>
                <a:ea typeface="Microsoft YaHei"/>
              </a:rPr>
              <a:t>Before：Excel + 微信 + 人工催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2960" y="4983480"/>
            <a:ext cx="8046720" cy="685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txBody>
          <a:bodyPr wrap="square"/>
          <a:lstStyle/>
          <a:p>
            <a:r>
              <a:rPr lang="zh-CN" sz="2000" b="1">
                <a:solidFill>
                  <a:srgbClr val="047857"/>
                </a:solidFill>
                <a:latin typeface="Aptos"/>
                <a:ea typeface="Microsoft YaHei"/>
              </a:rPr>
              <a:t>After：订单闭环 + 风险预警 + Agent 待办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7772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b="1">
                <a:solidFill>
                  <a:srgbClr val="0F172A"/>
                </a:solidFill>
                <a:latin typeface="Aptos"/>
                <a:ea typeface="Microsoft YaHei"/>
              </a:rPr>
              <a:t>两周 PoC：只验证一个闭环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160020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800">
                <a:solidFill>
                  <a:srgbClr val="334155"/>
                </a:solidFill>
                <a:latin typeface="Aptos"/>
                <a:ea typeface="Microsoft YaHei"/>
              </a:rPr>
              <a:t>客户不需要先理解平台，我们先帮他把订单交付跑起来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274320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00" b="1">
                <a:solidFill>
                  <a:srgbClr val="1F2937"/>
                </a:solidFill>
                <a:latin typeface="Aptos"/>
                <a:ea typeface="Microsoft YaHei"/>
              </a:rPr>
              <a:t>导入产品/BOM</a:t>
            </a:r>
          </a:p>
        </p:txBody>
      </p:sp>
      <p:cxnSp>
        <p:nvCxnSpPr>
          <p:cNvPr id="25" name="Connector 25"/>
          <p:cNvCxnSpPr/>
          <p:nvPr/>
        </p:nvCxnSpPr>
        <p:spPr>
          <a:xfrm>
            <a:off x="1828800" y="3072384"/>
            <a:ext cx="274319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6"/>
          <p:cNvSpPr txBox="1"/>
          <p:nvPr/>
        </p:nvSpPr>
        <p:spPr>
          <a:xfrm>
            <a:off x="2130552" y="274320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00" b="1">
                <a:solidFill>
                  <a:srgbClr val="1F2937"/>
                </a:solidFill>
                <a:latin typeface="Aptos"/>
                <a:ea typeface="Microsoft YaHei"/>
              </a:rPr>
              <a:t>导入库存</a:t>
            </a:r>
          </a:p>
        </p:txBody>
      </p:sp>
      <p:cxnSp>
        <p:nvCxnSpPr>
          <p:cNvPr id="26" name="Connector 26"/>
          <p:cNvCxnSpPr/>
          <p:nvPr/>
        </p:nvCxnSpPr>
        <p:spPr>
          <a:xfrm>
            <a:off x="3273552" y="3072384"/>
            <a:ext cx="274319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7"/>
          <p:cNvSpPr txBox="1"/>
          <p:nvPr/>
        </p:nvSpPr>
        <p:spPr>
          <a:xfrm>
            <a:off x="3575304" y="274320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00" b="1">
                <a:solidFill>
                  <a:srgbClr val="1F2937"/>
                </a:solidFill>
                <a:latin typeface="Aptos"/>
                <a:ea typeface="Microsoft YaHei"/>
              </a:rPr>
              <a:t>录入10张历史订单</a:t>
            </a:r>
          </a:p>
        </p:txBody>
      </p:sp>
      <p:cxnSp>
        <p:nvCxnSpPr>
          <p:cNvPr id="27" name="Connector 27"/>
          <p:cNvCxnSpPr/>
          <p:nvPr/>
        </p:nvCxnSpPr>
        <p:spPr>
          <a:xfrm>
            <a:off x="4718304" y="3072384"/>
            <a:ext cx="274319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8"/>
          <p:cNvSpPr txBox="1"/>
          <p:nvPr/>
        </p:nvSpPr>
        <p:spPr>
          <a:xfrm>
            <a:off x="5020056" y="274320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00" b="1">
                <a:solidFill>
                  <a:srgbClr val="1F2937"/>
                </a:solidFill>
                <a:latin typeface="Aptos"/>
                <a:ea typeface="Microsoft YaHei"/>
              </a:rPr>
              <a:t>自动识别缺料/风险</a:t>
            </a:r>
          </a:p>
        </p:txBody>
      </p:sp>
      <p:cxnSp>
        <p:nvCxnSpPr>
          <p:cNvPr id="28" name="Connector 28"/>
          <p:cNvCxnSpPr/>
          <p:nvPr/>
        </p:nvCxnSpPr>
        <p:spPr>
          <a:xfrm>
            <a:off x="6163056" y="3072384"/>
            <a:ext cx="274319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9"/>
          <p:cNvSpPr txBox="1"/>
          <p:nvPr/>
        </p:nvSpPr>
        <p:spPr>
          <a:xfrm>
            <a:off x="6464808" y="274320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00" b="1">
                <a:solidFill>
                  <a:srgbClr val="1F2937"/>
                </a:solidFill>
                <a:latin typeface="Aptos"/>
                <a:ea typeface="Microsoft YaHei"/>
              </a:rPr>
              <a:t>生成采购/技术待办</a:t>
            </a:r>
          </a:p>
        </p:txBody>
      </p:sp>
      <p:cxnSp>
        <p:nvCxnSpPr>
          <p:cNvPr id="29" name="Connector 29"/>
          <p:cNvCxnSpPr/>
          <p:nvPr/>
        </p:nvCxnSpPr>
        <p:spPr>
          <a:xfrm>
            <a:off x="7607808" y="3072384"/>
            <a:ext cx="274320" cy="0"/>
          </a:xfrm>
          <a:prstGeom prst="straightConnector1">
            <a:avLst/>
          </a:prstGeom>
          <a:ln w="25400">
            <a:solidFill>
              <a:srgbClr val="2563EB"/>
            </a:solidFill>
            <a:tailEnd type="non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10"/>
          <p:cNvSpPr txBox="1"/>
          <p:nvPr/>
        </p:nvSpPr>
        <p:spPr>
          <a:xfrm>
            <a:off x="7909560" y="2743200"/>
            <a:ext cx="11430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300" b="1">
                <a:solidFill>
                  <a:srgbClr val="1F2937"/>
                </a:solidFill>
                <a:latin typeface="Aptos"/>
                <a:ea typeface="Microsoft YaHei"/>
              </a:rPr>
              <a:t>老板看板复盘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05840" y="4709160"/>
            <a:ext cx="7772400" cy="73152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BAE6FD"/>
            </a:solidFill>
          </a:ln>
        </p:spPr>
        <p:txBody>
          <a:bodyPr wrap="square"/>
          <a:lstStyle/>
          <a:p>
            <a:r>
              <a:rPr lang="zh-CN" sz="1900" b="1">
                <a:solidFill>
                  <a:srgbClr val="075985"/>
                </a:solidFill>
                <a:latin typeface="Aptos"/>
                <a:ea typeface="Microsoft YaHei"/>
              </a:rPr>
              <a:t>PoC 成功标准：能说清楚订单卡点、缺料风险、责任人、下一步动作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7772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b="1">
                <a:solidFill>
                  <a:srgbClr val="0F172A"/>
                </a:solidFill>
                <a:latin typeface="Aptos"/>
                <a:ea typeface="Microsoft YaHei"/>
              </a:rPr>
              <a:t>销售策略：不要卖通用平台，卖交付结果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737360"/>
            <a:ext cx="2651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900" b="1">
                <a:solidFill>
                  <a:srgbClr val="0F172A"/>
                </a:solidFill>
                <a:latin typeface="Aptos"/>
                <a:ea typeface="Microsoft YaHei"/>
              </a:rPr>
              <a:t>目标客户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30-300 人工厂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订单驱动生产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非标/半定制比例高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Excel/微信群已撑不住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57600" y="1737360"/>
            <a:ext cx="2651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900" b="1">
                <a:solidFill>
                  <a:srgbClr val="0F172A"/>
                </a:solidFill>
                <a:latin typeface="Aptos"/>
                <a:ea typeface="Microsoft YaHei"/>
              </a:rPr>
              <a:t>销售话术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先不用重上 ERP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我们两周帮你搭好订单交付闭环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让老板每天看清风险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83680" y="1737360"/>
            <a:ext cx="26517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900" b="1">
                <a:solidFill>
                  <a:srgbClr val="0F172A"/>
                </a:solidFill>
                <a:latin typeface="Aptos"/>
                <a:ea typeface="Microsoft YaHei"/>
              </a:rPr>
              <a:t>收费建议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PoC：1-3万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实施：5-15万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年费：3-12万/年</a:t>
            </a:r>
          </a:p>
          <a:p>
            <a:r>
              <a:rPr lang="zh-CN" sz="1600">
                <a:solidFill>
                  <a:srgbClr val="1F2937"/>
                </a:solidFill>
                <a:latin typeface="Aptos"/>
                <a:ea typeface="Microsoft YaHei"/>
              </a:rPr>
              <a:t>定制对象/规则另算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2920" y="3200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1500" b="1">
                <a:solidFill>
                  <a:srgbClr val="0F172A"/>
                </a:solidFill>
                <a:latin typeface="Aptos"/>
                <a:ea typeface="Microsoft YaHei"/>
              </a:rPr>
              <a:t>BizGrow Studio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94360" y="777240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2800" b="1">
                <a:solidFill>
                  <a:srgbClr val="0F172A"/>
                </a:solidFill>
                <a:latin typeface="Aptos"/>
                <a:ea typeface="Microsoft YaHei"/>
              </a:rPr>
              <a:t>下一步：用真实客户把模型打穿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737360"/>
            <a:ext cx="82296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/>
          <a:lstStyle/>
          <a:p>
            <a:r>
              <a:rPr lang="zh-CN" sz="1900">
                <a:solidFill>
                  <a:srgbClr val="1F2937"/>
                </a:solidFill>
                <a:latin typeface="Aptos"/>
                <a:ea typeface="Microsoft YaHei"/>
              </a:rPr>
              <a:t>1. 找 5 家订单驱动型工厂访谈</a:t>
            </a:r>
          </a:p>
          <a:p>
            <a:r>
              <a:rPr lang="zh-CN" sz="1900">
                <a:solidFill>
                  <a:srgbClr val="1F2937"/>
                </a:solidFill>
                <a:latin typeface="Aptos"/>
                <a:ea typeface="Microsoft YaHei"/>
              </a:rPr>
              <a:t>2. 选择一个细分行业做模板</a:t>
            </a:r>
          </a:p>
          <a:p>
            <a:r>
              <a:rPr lang="zh-CN" sz="1900">
                <a:solidFill>
                  <a:srgbClr val="1F2937"/>
                </a:solidFill>
                <a:latin typeface="Aptos"/>
                <a:ea typeface="Microsoft YaHei"/>
              </a:rPr>
              <a:t>3. 完成客户运行端 Demo</a:t>
            </a:r>
          </a:p>
          <a:p>
            <a:r>
              <a:rPr lang="zh-CN" sz="1900">
                <a:solidFill>
                  <a:srgbClr val="1F2937"/>
                </a:solidFill>
                <a:latin typeface="Aptos"/>
                <a:ea typeface="Microsoft YaHei"/>
              </a:rPr>
              <a:t>4. 设计 PoC 交付清单</a:t>
            </a:r>
          </a:p>
          <a:p>
            <a:r>
              <a:rPr lang="zh-CN" sz="1900">
                <a:solidFill>
                  <a:srgbClr val="1F2937"/>
                </a:solidFill>
                <a:latin typeface="Aptos"/>
                <a:ea typeface="Microsoft YaHei"/>
              </a:rPr>
              <a:t>5. 用配置端沉淀对象、规则、Agent 和知识库</a:t>
            </a:r>
          </a:p>
          <a:p>
            <a:r>
              <a:rPr lang="zh-CN" sz="1900">
                <a:solidFill>
                  <a:srgbClr val="1F2937"/>
                </a:solidFill>
                <a:latin typeface="Aptos"/>
                <a:ea typeface="Microsoft YaHei"/>
              </a:rPr>
              <a:t>6. 形成可复制行业模板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5715000"/>
            <a:ext cx="8046720" cy="59436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txBody>
          <a:bodyPr wrap="square"/>
          <a:lstStyle/>
          <a:p>
            <a:r>
              <a:rPr lang="zh-CN" sz="2100" b="1">
                <a:solidFill>
                  <a:srgbClr val="FFFFFF"/>
                </a:solidFill>
                <a:latin typeface="Aptos"/>
                <a:ea typeface="Microsoft YaHei"/>
              </a:rPr>
              <a:t>核心原则：先让一张订单跑顺，再谈平台化。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02920" y="644652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zh-CN" sz="900">
                <a:solidFill>
                  <a:srgbClr val="64748B"/>
                </a:solidFill>
                <a:latin typeface="Aptos"/>
                <a:ea typeface="Microsoft YaHei"/>
              </a:rPr>
              <a:t>AI 对象低代码业务运行平台 | 面向中小制造企业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zGrow">
  <a:themeElements>
    <a:clrScheme name="BizGrow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D9488"/>
      </a:accent2>
      <a:accent3>
        <a:srgbClr val="F97316"/>
      </a:accent3>
      <a:accent4>
        <a:srgbClr val="64748B"/>
      </a:accent4>
      <a:accent5>
        <a:srgbClr val="10B981"/>
      </a:accent5>
      <a:accent6>
        <a:srgbClr val="EF4444"/>
      </a:accent6>
      <a:hlink>
        <a:srgbClr val="2563EB"/>
      </a:hlink>
      <a:folHlink>
        <a:srgbClr val="0D9488"/>
      </a:folHlink>
    </a:clrScheme>
    <a:fontScheme name="BizGrow">
      <a:majorFont>
        <a:latin typeface="Aptos Display"/>
        <a:ea typeface="Microsoft YaHei"/>
      </a:majorFont>
      <a:minorFont>
        <a:latin typeface="Aptos"/>
        <a:ea typeface="Microsoft YaHei"/>
      </a:minorFont>
    </a:fontScheme>
    <a:fmtScheme name="BizGrow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